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jpg"/><Relationship Id="rId4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ymb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02920"/>
            <a:ext cx="841248" cy="634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6583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JCENC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F26A21"/>
                </a:solidFill>
                <a:latin typeface="맑은 고딕"/>
              </a:rPr>
              <a:t>TRENCHLESS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43200"/>
            <a:ext cx="8686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비개착 T.S.M 공법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&amp; E.G.R 그라우팅 공법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34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0C4"/>
                </a:solidFill>
                <a:latin typeface="맑은 고딕"/>
              </a:rPr>
              <a:t>Tunnel of using Steel pipe Method  ·  Eco Grouting Rocket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맑은 고딕"/>
              </a:rPr>
              <a:t>제이씨이앤씨 주식회사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맑은 고딕"/>
              </a:rPr>
              <a:t>도로와 철도를 멈추지 않고, 그 아래에 길을 만듭니다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s.jpg"/>
          <p:cNvPicPr>
            <a:picLocks noChangeAspect="1"/>
          </p:cNvPicPr>
          <p:nvPr/>
        </p:nvPicPr>
        <p:blipFill>
          <a:blip r:embed="rId2"/>
          <a:srcRect l="17078" r="17078"/>
          <a:stretch>
            <a:fillRect/>
          </a:stretch>
        </p:blipFill>
        <p:spPr>
          <a:xfrm>
            <a:off x="0" y="3749039"/>
            <a:ext cx="4206240" cy="3108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3749039"/>
            <a:ext cx="4206240" cy="36576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ymb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731520" cy="551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0352" y="16002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F26A21"/>
                </a:solidFill>
                <a:latin typeface="맑은 고딕"/>
              </a:rPr>
              <a:t>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7498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6A21"/>
                </a:solidFill>
                <a:latin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74980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B"/>
                </a:solidFill>
                <a:latin typeface="맑은 고딕"/>
              </a:rPr>
              <a:t>회사 소개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133856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470"/>
                </a:solidFill>
                <a:latin typeface="맑은 고딕"/>
              </a:rPr>
              <a:t>JCENC 개요 · 사업영역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002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6A21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6002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B"/>
                </a:solidFill>
                <a:latin typeface="맑은 고딕"/>
              </a:rPr>
              <a:t>T.S.M 공법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98424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470"/>
                </a:solidFill>
                <a:latin typeface="맑은 고딕"/>
              </a:rPr>
              <a:t>정의 · 개념 · 핵심 특성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5059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6A21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45059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B"/>
                </a:solidFill>
                <a:latin typeface="맑은 고딕"/>
              </a:rPr>
              <a:t>시공 순서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83464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470"/>
                </a:solidFill>
                <a:latin typeface="맑은 고딕"/>
              </a:rPr>
              <a:t>9단계 프로세스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30098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6A21"/>
                </a:solidFill>
                <a:latin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30098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B"/>
                </a:solidFill>
                <a:latin typeface="맑은 고딕"/>
              </a:rPr>
              <a:t>기술 제안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685032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470"/>
                </a:solidFill>
                <a:latin typeface="맑은 고딕"/>
              </a:rPr>
              <a:t>선형조정 · 토층별 굴착 · 지반보강 · 계측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151376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6A21"/>
                </a:solidFill>
                <a:latin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15137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B"/>
                </a:solidFill>
                <a:latin typeface="맑은 고딕"/>
              </a:rPr>
              <a:t>공법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535424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470"/>
                </a:solidFill>
                <a:latin typeface="맑은 고딕"/>
              </a:rPr>
              <a:t>TSM · TRcM · STS · UPRS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00176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6A21"/>
                </a:solidFill>
                <a:latin typeface="맑은 고딕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500176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B"/>
                </a:solidFill>
                <a:latin typeface="맑은 고딕"/>
              </a:rPr>
              <a:t>E.G.R 그라우팅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385816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470"/>
                </a:solidFill>
                <a:latin typeface="맑은 고딕"/>
              </a:rPr>
              <a:t>친환경 지반주입 공법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8521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6A21"/>
                </a:solidFill>
                <a:latin typeface="맑은 고딕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5852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D1D1B"/>
                </a:solidFill>
                <a:latin typeface="맑은 고딕"/>
              </a:rPr>
              <a:t>공법 실적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623620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470"/>
                </a:solidFill>
                <a:latin typeface="맑은 고딕"/>
              </a:rPr>
              <a:t>실적표 · 대표 사례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01  ABOUT JCENC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제이씨이앤씨 주식회사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470"/>
                </a:solidFill>
                <a:latin typeface="맑은 고딕"/>
              </a:rPr>
              <a:t>비개착 T.S.M 강관추진과 E.G.R 약액주입을 축으로,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470"/>
                </a:solidFill>
                <a:latin typeface="맑은 고딕"/>
              </a:rPr>
              <a:t>국가 기간시설 하부를 관통하는 특수공법 전문 기업입니다.</a:t>
            </a:r>
          </a:p>
        </p:txBody>
      </p:sp>
      <p:sp>
        <p:nvSpPr>
          <p:cNvPr id="6" name="Oval 5"/>
          <p:cNvSpPr/>
          <p:nvPr/>
        </p:nvSpPr>
        <p:spPr>
          <a:xfrm>
            <a:off x="530352" y="2578608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447"/>
                </a:solidFill>
                <a:latin typeface="맑은 고딕"/>
              </a:rPr>
              <a:t>철도 하부통과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25496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운행 중인 철도 아래를 비개착 횡단 — 열차 중단 없이</a:t>
            </a:r>
          </a:p>
        </p:txBody>
      </p:sp>
      <p:sp>
        <p:nvSpPr>
          <p:cNvPr id="9" name="Oval 8"/>
          <p:cNvSpPr/>
          <p:nvPr/>
        </p:nvSpPr>
        <p:spPr>
          <a:xfrm>
            <a:off x="530352" y="3328416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644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447"/>
                </a:solidFill>
                <a:latin typeface="맑은 고딕"/>
              </a:rPr>
              <a:t>지하차도 · 통로박스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75304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도로 하부 BOX 구조물 추진 — 지하차도 · 통로암거 · 진입도로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" y="4078224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1421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447"/>
                </a:solidFill>
                <a:latin typeface="맑은 고딕"/>
              </a:rPr>
              <a:t>인입관로 · 도수시설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25112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대구경 강관 추진 — 상수도 · 우수 BOX · 인입관로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4828032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6402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447"/>
                </a:solidFill>
                <a:latin typeface="맑은 고딕"/>
              </a:rPr>
              <a:t>약액주입 · 그라우팅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특허 EGR 공법 — 지반 보강 · 차수 (EGR · SGR · LW)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502920"/>
            <a:ext cx="461772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mplete.jpg"/>
          <p:cNvPicPr>
            <a:picLocks noChangeAspect="1"/>
          </p:cNvPicPr>
          <p:nvPr/>
        </p:nvPicPr>
        <p:blipFill>
          <a:blip r:embed="rId2"/>
          <a:srcRect t="3249" b="3249"/>
          <a:stretch>
            <a:fillRect/>
          </a:stretch>
        </p:blipFill>
        <p:spPr>
          <a:xfrm>
            <a:off x="7269480" y="685800"/>
            <a:ext cx="4251960" cy="2286000"/>
          </a:xfrm>
          <a:prstGeom prst="rect">
            <a:avLst/>
          </a:prstGeom>
        </p:spPr>
      </p:pic>
      <p:pic>
        <p:nvPicPr>
          <p:cNvPr id="20" name="Picture 19" descr="tunnel.jpg"/>
          <p:cNvPicPr>
            <a:picLocks noChangeAspect="1"/>
          </p:cNvPicPr>
          <p:nvPr/>
        </p:nvPicPr>
        <p:blipFill>
          <a:blip r:embed="rId3"/>
          <a:srcRect t="27262" b="27262"/>
          <a:stretch>
            <a:fillRect/>
          </a:stretch>
        </p:blipFill>
        <p:spPr>
          <a:xfrm>
            <a:off x="7269480" y="3108960"/>
            <a:ext cx="4251960" cy="2286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02920" y="5650992"/>
            <a:ext cx="11183112" cy="658368"/>
          </a:xfrm>
          <a:prstGeom prst="roundRect">
            <a:avLst>
              <a:gd name="adj" fmla="val 18000"/>
            </a:avLst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733288"/>
            <a:ext cx="27957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26A21"/>
                </a:solidFill>
                <a:latin typeface="맑은 고딕"/>
              </a:rPr>
              <a:t>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2795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051-702-2929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8698" y="5733288"/>
            <a:ext cx="27957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26A21"/>
                </a:solidFill>
                <a:latin typeface="맑은 고딕"/>
              </a:rP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8698" y="5989320"/>
            <a:ext cx="2795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010-6771-9999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76" y="5733288"/>
            <a:ext cx="27957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26A21"/>
                </a:solidFill>
                <a:latin typeface="맑은 고딕"/>
              </a:rPr>
              <a:t>E-MAIL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4476" y="5989320"/>
            <a:ext cx="2795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jcenc2025@naver.com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254" y="5733288"/>
            <a:ext cx="27957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26A21"/>
                </a:solidFill>
                <a:latin typeface="맑은 고딕"/>
              </a:rPr>
              <a:t>본사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254" y="5989320"/>
            <a:ext cx="27957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부산 해운대구 세실로 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회사 소개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02  T.S.M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강관이 곧 구조물이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470"/>
                </a:solidFill>
                <a:latin typeface="맑은 고딕"/>
              </a:rPr>
              <a:t>다수의 강관을 압입하고 내부를 굴착해, H-BEAM과 철근콘크리트가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B6470"/>
                </a:solidFill>
                <a:latin typeface="맑은 고딕"/>
              </a:rPr>
              <a:t>하나 된 합성 구조물을 형성하는 비개착 공법입니다.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502920"/>
            <a:ext cx="4617720" cy="3429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cept.jpg"/>
          <p:cNvPicPr>
            <a:picLocks noChangeAspect="1"/>
          </p:cNvPicPr>
          <p:nvPr/>
        </p:nvPicPr>
        <p:blipFill>
          <a:blip r:embed="rId2"/>
          <a:srcRect t="8385" b="8385"/>
          <a:stretch>
            <a:fillRect/>
          </a:stretch>
        </p:blipFill>
        <p:spPr>
          <a:xfrm>
            <a:off x="7269480" y="658368"/>
            <a:ext cx="425196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354787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T.S.M 구조 개념도 — 강관 다발 내부 RC 박스 형성</a:t>
            </a:r>
          </a:p>
        </p:txBody>
      </p:sp>
      <p:sp>
        <p:nvSpPr>
          <p:cNvPr id="9" name="Oval 8"/>
          <p:cNvSpPr/>
          <p:nvPr/>
        </p:nvSpPr>
        <p:spPr>
          <a:xfrm>
            <a:off x="530352" y="2606040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447"/>
                </a:solidFill>
                <a:latin typeface="맑은 고딕"/>
              </a:rPr>
              <a:t>최소 토피 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52928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도로 표층 1.0m · 철도 노반 0.5m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" y="3355848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447"/>
                </a:solidFill>
                <a:latin typeface="맑은 고딕"/>
              </a:rPr>
              <a:t>확실한 방수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02736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강관 사이 격벽철판 일체화 — 별도 방수재 불필요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4105656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416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447"/>
                </a:solidFill>
                <a:latin typeface="맑은 고딕"/>
              </a:rPr>
              <a:t>전 토층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52544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대구경 강관(D1,500~2,300)으로 지장물 대처 용이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" y="4855464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9145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447"/>
                </a:solidFill>
                <a:latin typeface="맑은 고딕"/>
              </a:rPr>
              <a:t>곡선 선형 시공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02352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선도관 조정장치 — R=60m 정밀 시공 실적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50992"/>
            <a:ext cx="11183112" cy="658368"/>
          </a:xfrm>
          <a:prstGeom prst="roundRect">
            <a:avLst>
              <a:gd name="adj" fmla="val 18000"/>
            </a:avLst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733288"/>
            <a:ext cx="27957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D2,300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53328"/>
            <a:ext cx="279577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FB0C4"/>
                </a:solidFill>
                <a:latin typeface="맑은 고딕"/>
              </a:rPr>
              <a:t>최대 대구경 강관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8698" y="5733288"/>
            <a:ext cx="27957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0.5m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8698" y="6053328"/>
            <a:ext cx="279577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FB0C4"/>
                </a:solidFill>
                <a:latin typeface="맑은 고딕"/>
              </a:rPr>
              <a:t>최소 토피고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76" y="5733288"/>
            <a:ext cx="27957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173.8m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4476" y="6053328"/>
            <a:ext cx="279577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FB0C4"/>
                </a:solidFill>
                <a:latin typeface="맑은 고딕"/>
              </a:rPr>
              <a:t>단일 구간 최장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254" y="5733288"/>
            <a:ext cx="27957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R=60m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254" y="6053328"/>
            <a:ext cx="279577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FB0C4"/>
                </a:solidFill>
                <a:latin typeface="맑은 고딕"/>
              </a:rPr>
              <a:t>곡선 시공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T.S.M 공법 개요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03  CONSTRUCTION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8ECF2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170432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B"/>
                </a:solidFill>
                <a:latin typeface="맑은 고딕"/>
              </a:rPr>
              <a:t>추진기지 가시설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783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H-PILE 항타 · 가시설 설치  →  바닥 콘크리트 타설  →  반력벽 · 추진레일 설치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3605784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32_x425_574x431.jpg"/>
          <p:cNvPicPr>
            <a:picLocks noChangeAspect="1"/>
          </p:cNvPicPr>
          <p:nvPr/>
        </p:nvPicPr>
        <p:blipFill>
          <a:blip r:embed="rId2"/>
          <a:srcRect l="4563" r="4563"/>
          <a:stretch>
            <a:fillRect/>
          </a:stretch>
        </p:blipFill>
        <p:spPr>
          <a:xfrm>
            <a:off x="612648" y="2624328"/>
            <a:ext cx="3386328" cy="2798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49554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H-PILE 항타 · 가시설 설치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514600"/>
            <a:ext cx="3605784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2_x427_574x432.jpg"/>
          <p:cNvPicPr>
            <a:picLocks noChangeAspect="1"/>
          </p:cNvPicPr>
          <p:nvPr/>
        </p:nvPicPr>
        <p:blipFill>
          <a:blip r:embed="rId3"/>
          <a:srcRect l="4458" r="4458"/>
          <a:stretch>
            <a:fillRect/>
          </a:stretch>
        </p:blipFill>
        <p:spPr>
          <a:xfrm>
            <a:off x="4401312" y="2624328"/>
            <a:ext cx="3386328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1312" y="549554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가시설 바닥 콘크리트 타설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0248" y="2514600"/>
            <a:ext cx="3605784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32_x428_502x377.jpg"/>
          <p:cNvPicPr>
            <a:picLocks noChangeAspect="1"/>
          </p:cNvPicPr>
          <p:nvPr/>
        </p:nvPicPr>
        <p:blipFill>
          <a:blip r:embed="rId4"/>
          <a:srcRect l="4556" r="4556"/>
          <a:stretch>
            <a:fillRect/>
          </a:stretch>
        </p:blipFill>
        <p:spPr>
          <a:xfrm>
            <a:off x="8189976" y="2624328"/>
            <a:ext cx="3386328" cy="2798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89976" y="549554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강관추진 레일 설치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시공 순서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03  CONSTRUCTION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8ECF2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170432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B"/>
                </a:solidFill>
                <a:latin typeface="맑은 고딕"/>
              </a:rPr>
              <a:t>강관 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783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유압잭 추진 · 굴착 동시 시행  →  매 1M 선형 확인  →  벤토나이트 주입(마찰 저감)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3605784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33_x435_574x432.jpg"/>
          <p:cNvPicPr>
            <a:picLocks noChangeAspect="1"/>
          </p:cNvPicPr>
          <p:nvPr/>
        </p:nvPicPr>
        <p:blipFill>
          <a:blip r:embed="rId2"/>
          <a:srcRect l="4458" r="4458"/>
          <a:stretch>
            <a:fillRect/>
          </a:stretch>
        </p:blipFill>
        <p:spPr>
          <a:xfrm>
            <a:off x="612648" y="2624328"/>
            <a:ext cx="3386328" cy="2798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49554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강관 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514600"/>
            <a:ext cx="3605784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3_x437_574x432.jpg"/>
          <p:cNvPicPr>
            <a:picLocks noChangeAspect="1"/>
          </p:cNvPicPr>
          <p:nvPr/>
        </p:nvPicPr>
        <p:blipFill>
          <a:blip r:embed="rId3"/>
          <a:srcRect l="4458" r="4458"/>
          <a:stretch>
            <a:fillRect/>
          </a:stretch>
        </p:blipFill>
        <p:spPr>
          <a:xfrm>
            <a:off x="4401312" y="2624328"/>
            <a:ext cx="3386328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1312" y="549554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강관 내부 토사 굴착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0248" y="2514600"/>
            <a:ext cx="3605784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33_x439_574x431.jpg"/>
          <p:cNvPicPr>
            <a:picLocks noChangeAspect="1"/>
          </p:cNvPicPr>
          <p:nvPr/>
        </p:nvPicPr>
        <p:blipFill>
          <a:blip r:embed="rId4"/>
          <a:srcRect l="4563" r="4563"/>
          <a:stretch>
            <a:fillRect/>
          </a:stretch>
        </p:blipFill>
        <p:spPr>
          <a:xfrm>
            <a:off x="8189976" y="2624328"/>
            <a:ext cx="3386328" cy="2798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89976" y="549554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강관 내부 토사 반출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시공 순서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03  CONSTRUCTION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8ECF2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170432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B"/>
                </a:solidFill>
                <a:latin typeface="맑은 고딕"/>
              </a:rPr>
              <a:t>강관 외부 그라우팅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783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추진 완료 후 강관 외부 그라우팅 주입  →  지반 침하 방지 · 차수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34_x450_574x431.png"/>
          <p:cNvPicPr>
            <a:picLocks noChangeAspect="1"/>
          </p:cNvPicPr>
          <p:nvPr/>
        </p:nvPicPr>
        <p:blipFill>
          <a:blip r:embed="rId2"/>
          <a:srcRect t="14716" b="14716"/>
          <a:stretch>
            <a:fillRect/>
          </a:stretch>
        </p:blipFill>
        <p:spPr>
          <a:xfrm>
            <a:off x="612648" y="2624328"/>
            <a:ext cx="5280660" cy="2798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그라우팅 주입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916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4_x451_574x431.jpg"/>
          <p:cNvPicPr>
            <a:picLocks noChangeAspect="1"/>
          </p:cNvPicPr>
          <p:nvPr/>
        </p:nvPicPr>
        <p:blipFill>
          <a:blip r:embed="rId3"/>
          <a:srcRect t="14716" b="14716"/>
          <a:stretch>
            <a:fillRect/>
          </a:stretch>
        </p:blipFill>
        <p:spPr>
          <a:xfrm>
            <a:off x="6295644" y="2624328"/>
            <a:ext cx="5280660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5644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그라우팅 플랜트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시공 순서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03  CONSTRUCTION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8ECF2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170432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B"/>
                </a:solidFill>
                <a:latin typeface="맑은 고딕"/>
              </a:rPr>
              <a:t>내부 보강폼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783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강관 변위 방지를 위한 내부 보강폼(ㄱ-50×50×6) 설치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35_x458_574x431.jpg"/>
          <p:cNvPicPr>
            <a:picLocks noChangeAspect="1"/>
          </p:cNvPicPr>
          <p:nvPr/>
        </p:nvPicPr>
        <p:blipFill>
          <a:blip r:embed="rId2"/>
          <a:srcRect t="14716" b="14716"/>
          <a:stretch>
            <a:fillRect/>
          </a:stretch>
        </p:blipFill>
        <p:spPr>
          <a:xfrm>
            <a:off x="612648" y="2624328"/>
            <a:ext cx="5280660" cy="2798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보강폼 설치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916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5_x459_574x431.jpg"/>
          <p:cNvPicPr>
            <a:picLocks noChangeAspect="1"/>
          </p:cNvPicPr>
          <p:nvPr/>
        </p:nvPicPr>
        <p:blipFill>
          <a:blip r:embed="rId3"/>
          <a:srcRect t="14716" b="14716"/>
          <a:stretch>
            <a:fillRect/>
          </a:stretch>
        </p:blipFill>
        <p:spPr>
          <a:xfrm>
            <a:off x="6295644" y="2624328"/>
            <a:ext cx="5280660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5644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보강폼 상세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시공 순서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03  CONSTRUCTION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8ECF2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170432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B"/>
                </a:solidFill>
                <a:latin typeface="맑은 고딕"/>
              </a:rPr>
              <a:t>강관 내 철골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783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터널 굴착 · H-BEAM 설치  →  벽체 격벽철판  →  상부 격벽철판  →  굴착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3605784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36_x467_574x432.jpg"/>
          <p:cNvPicPr>
            <a:picLocks noChangeAspect="1"/>
          </p:cNvPicPr>
          <p:nvPr/>
        </p:nvPicPr>
        <p:blipFill>
          <a:blip r:embed="rId2"/>
          <a:srcRect l="4458" r="4458"/>
          <a:stretch>
            <a:fillRect/>
          </a:stretch>
        </p:blipFill>
        <p:spPr>
          <a:xfrm>
            <a:off x="612648" y="2624328"/>
            <a:ext cx="3386328" cy="2798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49554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터널 굴착 · H-BEAM 설치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514600"/>
            <a:ext cx="3605784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6_x470_574x431.jpg"/>
          <p:cNvPicPr>
            <a:picLocks noChangeAspect="1"/>
          </p:cNvPicPr>
          <p:nvPr/>
        </p:nvPicPr>
        <p:blipFill>
          <a:blip r:embed="rId3"/>
          <a:srcRect l="4563" r="4563"/>
          <a:stretch>
            <a:fillRect/>
          </a:stretch>
        </p:blipFill>
        <p:spPr>
          <a:xfrm>
            <a:off x="4401312" y="2624328"/>
            <a:ext cx="3386328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1312" y="549554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상부 격벽철판 설치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0248" y="2514600"/>
            <a:ext cx="3605784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36_x468_574x431.jpg"/>
          <p:cNvPicPr>
            <a:picLocks noChangeAspect="1"/>
          </p:cNvPicPr>
          <p:nvPr/>
        </p:nvPicPr>
        <p:blipFill>
          <a:blip r:embed="rId4"/>
          <a:srcRect l="4563" r="4563"/>
          <a:stretch>
            <a:fillRect/>
          </a:stretch>
        </p:blipFill>
        <p:spPr>
          <a:xfrm>
            <a:off x="8189976" y="2624328"/>
            <a:ext cx="3386328" cy="2798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89976" y="549554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현장 전경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시공 순서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03  CONSTRUCTION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8ECF2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170432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B"/>
                </a:solidFill>
                <a:latin typeface="맑은 고딕"/>
              </a:rPr>
              <a:t>기초 콘크리트 타설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783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버림 콘크리트  →  바닥 방수  →  기초 철근 배근  →  기초 콘크리트 타설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37_x491_574x431.jpg"/>
          <p:cNvPicPr>
            <a:picLocks noChangeAspect="1"/>
          </p:cNvPicPr>
          <p:nvPr/>
        </p:nvPicPr>
        <p:blipFill>
          <a:blip r:embed="rId2"/>
          <a:srcRect t="14716" b="14716"/>
          <a:stretch>
            <a:fillRect/>
          </a:stretch>
        </p:blipFill>
        <p:spPr>
          <a:xfrm>
            <a:off x="612648" y="2624328"/>
            <a:ext cx="5280660" cy="2798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바닥 방수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916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7_x492_574x431.jpg"/>
          <p:cNvPicPr>
            <a:picLocks noChangeAspect="1"/>
          </p:cNvPicPr>
          <p:nvPr/>
        </p:nvPicPr>
        <p:blipFill>
          <a:blip r:embed="rId3"/>
          <a:srcRect t="14716" b="14716"/>
          <a:stretch>
            <a:fillRect/>
          </a:stretch>
        </p:blipFill>
        <p:spPr>
          <a:xfrm>
            <a:off x="6295644" y="2624328"/>
            <a:ext cx="5280660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5644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기초 철근 배근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시공 순서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03  CONSTRUCTION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8ECF2"/>
                </a:solidFill>
                <a:latin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170432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B"/>
                </a:solidFill>
                <a:latin typeface="맑은 고딕"/>
              </a:rPr>
              <a:t>벽체 콘크리트 타설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783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벽체 철근 배근  →  거푸집 설치  →  벽체 콘크리트 타설 (fck=27MPa)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38_x495_574x431.jpg"/>
          <p:cNvPicPr>
            <a:picLocks noChangeAspect="1"/>
          </p:cNvPicPr>
          <p:nvPr/>
        </p:nvPicPr>
        <p:blipFill>
          <a:blip r:embed="rId2"/>
          <a:srcRect t="14716" b="14716"/>
          <a:stretch>
            <a:fillRect/>
          </a:stretch>
        </p:blipFill>
        <p:spPr>
          <a:xfrm>
            <a:off x="612648" y="2624328"/>
            <a:ext cx="5280660" cy="2798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벽체 철근 배근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916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8_x496_574x432.jpg"/>
          <p:cNvPicPr>
            <a:picLocks noChangeAspect="1"/>
          </p:cNvPicPr>
          <p:nvPr/>
        </p:nvPicPr>
        <p:blipFill>
          <a:blip r:embed="rId3"/>
          <a:srcRect t="14798" b="14798"/>
          <a:stretch>
            <a:fillRect/>
          </a:stretch>
        </p:blipFill>
        <p:spPr>
          <a:xfrm>
            <a:off x="6295644" y="2624328"/>
            <a:ext cx="5280660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5644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벽체 배근 상세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시공 순서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03  CONSTRUCTION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8ECF2"/>
                </a:solidFill>
                <a:latin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170432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B"/>
                </a:solidFill>
                <a:latin typeface="맑은 고딕"/>
              </a:rPr>
              <a:t>상부 슬래브 타설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783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슬래브 철근 배근  →  거푸집 설치  →  상부 슬래브 콘크리트 타설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39_x506_574x431.jpg"/>
          <p:cNvPicPr>
            <a:picLocks noChangeAspect="1"/>
          </p:cNvPicPr>
          <p:nvPr/>
        </p:nvPicPr>
        <p:blipFill>
          <a:blip r:embed="rId2"/>
          <a:srcRect t="14716" b="14716"/>
          <a:stretch>
            <a:fillRect/>
          </a:stretch>
        </p:blipFill>
        <p:spPr>
          <a:xfrm>
            <a:off x="612648" y="2624328"/>
            <a:ext cx="5280660" cy="2798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슬래브 하부 배근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916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9_x505_574x432.jpg"/>
          <p:cNvPicPr>
            <a:picLocks noChangeAspect="1"/>
          </p:cNvPicPr>
          <p:nvPr/>
        </p:nvPicPr>
        <p:blipFill>
          <a:blip r:embed="rId3"/>
          <a:srcRect t="14798" b="14798"/>
          <a:stretch>
            <a:fillRect/>
          </a:stretch>
        </p:blipFill>
        <p:spPr>
          <a:xfrm>
            <a:off x="6295644" y="2624328"/>
            <a:ext cx="5280660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5644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슬래브 콘크리트 타설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시공 순서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03  CONSTRUCTION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8ECF2"/>
                </a:solidFill>
                <a:latin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170432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D1D1B"/>
                </a:solidFill>
                <a:latin typeface="맑은 고딕"/>
              </a:rPr>
              <a:t>지지보 해체 · 구조물 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7830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거푸집 · 임시 지지보 해체  →  시공면 정리  →  구조물 완성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40_x515_574x432.jpg"/>
          <p:cNvPicPr>
            <a:picLocks noChangeAspect="1"/>
          </p:cNvPicPr>
          <p:nvPr/>
        </p:nvPicPr>
        <p:blipFill>
          <a:blip r:embed="rId2"/>
          <a:srcRect t="14798" b="14798"/>
          <a:stretch>
            <a:fillRect/>
          </a:stretch>
        </p:blipFill>
        <p:spPr>
          <a:xfrm>
            <a:off x="612648" y="2624328"/>
            <a:ext cx="5280660" cy="2798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내부 지지보 해체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916" y="2514600"/>
            <a:ext cx="5500116" cy="34015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0_x516_574x431.jpg"/>
          <p:cNvPicPr>
            <a:picLocks noChangeAspect="1"/>
          </p:cNvPicPr>
          <p:nvPr/>
        </p:nvPicPr>
        <p:blipFill>
          <a:blip r:embed="rId3"/>
          <a:srcRect t="14716" b="14716"/>
          <a:stretch>
            <a:fillRect/>
          </a:stretch>
        </p:blipFill>
        <p:spPr>
          <a:xfrm>
            <a:off x="6295644" y="2624328"/>
            <a:ext cx="5280660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5644" y="549554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하부통과 구조물 완성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시공 순서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04  TECHNICAL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토층별 굴착 방안 — 전 토층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토사 · 전석층 · 호박섞인돌 · 암반까지, 지반 조건별 최적 굴착 프로세스를 적용합니다.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118311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45_x582_1934x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573" y="2240280"/>
            <a:ext cx="6368693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0" y="2240280"/>
            <a:ext cx="19202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470"/>
                </a:solidFill>
                <a:latin typeface="맑은 고딕"/>
              </a:rPr>
              <a:t>토사 · 전석층 구간 — 추진 · 굴착 프로세스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83864"/>
            <a:ext cx="1118311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45_x583_1934x2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166" y="3575304"/>
            <a:ext cx="6853507" cy="1024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0" y="3575304"/>
            <a:ext cx="19202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470"/>
                </a:solidFill>
                <a:latin typeface="맑은 고딕"/>
              </a:rPr>
              <a:t>호박섞인돌 · 암반 구간 — 파쇄 · 굴착 프로세스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18888"/>
            <a:ext cx="1118311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45_x584_996x2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973" y="4910328"/>
            <a:ext cx="3777894" cy="1024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0" y="4910328"/>
            <a:ext cx="19202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470"/>
                </a:solidFill>
                <a:latin typeface="맑은 고딕"/>
              </a:rPr>
              <a:t>후속강관 압입 — 선도관 · 후속강관 연속 추진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2447"/>
                </a:solidFill>
                <a:latin typeface="맑은 고딕"/>
              </a:rPr>
              <a:t>기계식 · 유압파쇄기식 병용 — 강관 구경이 커져도 굴착 효율 유지, 공기 · 공사비 절감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기술 제안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04  TECHNICAL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선도관 조정장치 — 곡선 · 정밀 선형 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035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B6470"/>
                </a:solidFill>
                <a:latin typeface="맑은 고딕"/>
              </a:rPr>
              <a:t>선도관 4방향 조정장치를 조작해 추진 선형을 실시간 보정합니다.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B6470"/>
                </a:solidFill>
                <a:latin typeface="맑은 고딕"/>
              </a:rPr>
              <a:t>곡선 선형(R=60m) 시공과 변단면 대응이 가능하며,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B6470"/>
                </a:solidFill>
                <a:latin typeface="맑은 고딕"/>
              </a:rPr>
              <a:t>방수철판 설치로 시공성을 확보합니다.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3108960"/>
            <a:ext cx="1920240" cy="566928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318211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470"/>
                </a:solidFill>
                <a:latin typeface="맑은 고딕"/>
              </a:rPr>
              <a:t>직경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447"/>
                </a:solidFill>
                <a:latin typeface="맑은 고딕"/>
              </a:rPr>
              <a:t>D2,100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3822192"/>
            <a:ext cx="1920240" cy="566928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895344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470"/>
                </a:solidFill>
                <a:latin typeface="맑은 고딕"/>
              </a:rPr>
              <a:t>선도관 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0965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447"/>
                </a:solidFill>
                <a:latin typeface="맑은 고딕"/>
              </a:rPr>
              <a:t>2.0m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535424"/>
            <a:ext cx="1920240" cy="566928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608576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470"/>
                </a:solidFill>
                <a:latin typeface="맑은 고딕"/>
              </a:rPr>
              <a:t>추진관 길이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80974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447"/>
                </a:solidFill>
                <a:latin typeface="맑은 고딕"/>
              </a:rPr>
              <a:t>6.0m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248656"/>
            <a:ext cx="1920240" cy="566928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321808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470"/>
                </a:solidFill>
                <a:latin typeface="맑은 고딕"/>
              </a:rPr>
              <a:t>조정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52297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447"/>
                </a:solidFill>
                <a:latin typeface="맑은 고딕"/>
              </a:rPr>
              <a:t>4방향 유압 조정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00200"/>
            <a:ext cx="2551176" cy="4224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46_x588_1005x5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875447"/>
            <a:ext cx="2331720" cy="128998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10528" y="54041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선도관 조정 원리 — 조임 · 풀림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600200"/>
            <a:ext cx="2551176" cy="4224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46_x589_749x3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4" y="2983428"/>
            <a:ext cx="2331720" cy="10740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54041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선도관 조정나사 실물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기술 제안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04  TECHNICAL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연약지반 보강 · 외측 그라우팅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맑은 고딕"/>
              </a:rPr>
              <a:t>대구경 강관 내부에 천공장비를 반입, 구조물 하부 연약지반을 수직 보강 그라우팅으로 안정화합니다.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3605784" cy="3675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47_x597_417x4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76" y="2304288"/>
            <a:ext cx="3147872" cy="30723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" y="544982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수직 보강 그라우팅 개념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1584" y="2194560"/>
            <a:ext cx="3605784" cy="3675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47_x598_421x4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310" y="2304288"/>
            <a:ext cx="3124332" cy="3072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01312" y="544982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천공장비 반입 · 천공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0248" y="2194560"/>
            <a:ext cx="3605784" cy="3675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48_x603_701x4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976" y="2789800"/>
            <a:ext cx="3386328" cy="210135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9976" y="544982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그라우팅 주입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2447"/>
                </a:solidFill>
                <a:latin typeface="맑은 고딕"/>
              </a:rPr>
              <a:t>강관 외측은 밀크 그라우팅 + 급결재로 공극 충전 — 차수 · 지반 안정 동시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기술 제안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04  TECHNICAL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계측 관리 — 안전을 수치로 관리합니다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3840480" cy="457200"/>
          </a:xfrm>
          <a:prstGeom prst="rect">
            <a:avLst/>
          </a:prstGeom>
          <a:solidFill>
            <a:srgbClr val="0B244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2029968"/>
            <a:ext cx="35844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</a:rPr>
              <a:t>계측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920240"/>
            <a:ext cx="5029200" cy="457200"/>
          </a:xfrm>
          <a:prstGeom prst="rect">
            <a:avLst/>
          </a:prstGeom>
          <a:solidFill>
            <a:srgbClr val="0B244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2029968"/>
            <a:ext cx="47731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</a:rPr>
              <a:t>측정 목적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920240"/>
            <a:ext cx="2313432" cy="457200"/>
          </a:xfrm>
          <a:prstGeom prst="rect">
            <a:avLst/>
          </a:prstGeom>
          <a:solidFill>
            <a:srgbClr val="0B244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616" y="2029968"/>
            <a:ext cx="2057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맑은 고딕"/>
              </a:rPr>
              <a:t>측정 빈도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3840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496312"/>
            <a:ext cx="358444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지표면 침하 측정 (침하계)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377440"/>
            <a:ext cx="5029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2496312"/>
            <a:ext cx="477316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굴착에 따른 지표 영향 · 가설구조물 안전도 파악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377440"/>
            <a:ext cx="2313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616" y="2496312"/>
            <a:ext cx="20574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굴착 중 1회/일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44368"/>
            <a:ext cx="3840480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063240"/>
            <a:ext cx="358444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구조물 · 궤도 변위 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944368"/>
            <a:ext cx="5029200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3063240"/>
            <a:ext cx="477316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상부 시설(도로 · 철도)의 변위 감시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2944368"/>
            <a:ext cx="2313432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0616" y="3063240"/>
            <a:ext cx="20574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추진 중 상시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11296"/>
            <a:ext cx="3840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3630168"/>
            <a:ext cx="358444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지중 침하 · 경사 측정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511296"/>
            <a:ext cx="5029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3630168"/>
            <a:ext cx="477316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지반 거동 · 침하 경향 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3511296"/>
            <a:ext cx="23134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630168"/>
            <a:ext cx="20574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주 2회 이상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078224"/>
            <a:ext cx="3840480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4197096"/>
            <a:ext cx="358444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강관 선형 측량 (레이저)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4078224"/>
            <a:ext cx="5029200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197096"/>
            <a:ext cx="477316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추진 선형 정밀도 관리 — 매 1M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4078224"/>
            <a:ext cx="2313432" cy="56692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0616" y="4197096"/>
            <a:ext cx="20574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D1D1B"/>
                </a:solidFill>
                <a:latin typeface="맑은 고딕"/>
              </a:rPr>
              <a:t>추진 시 상시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3949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5B6470"/>
                </a:solidFill>
                <a:latin typeface="맑은 고딕"/>
              </a:rPr>
              <a:t>계측 결과는 일일 관리 기준과 비교해 단계별(주의 · 경고 · 위험) 대응 체계로 운영하며,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5B6470"/>
                </a:solidFill>
                <a:latin typeface="맑은 고딕"/>
              </a:rPr>
              <a:t>발주처 · 감리단과 실시간 공유합니다.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기술 제안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05  METHOD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주요 비개착 공법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651760" cy="4206240"/>
          </a:xfrm>
          <a:prstGeom prst="roundRect">
            <a:avLst>
              <a:gd name="adj" fmla="val 4000"/>
            </a:avLst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26A21"/>
                </a:solidFill>
                <a:latin typeface="맑은 고딕"/>
              </a:rPr>
              <a:t>T.S.M</a:t>
            </a:r>
          </a:p>
        </p:txBody>
      </p:sp>
      <p:pic>
        <p:nvPicPr>
          <p:cNvPr id="7" name="Picture 6" descr="p44_x574_430x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96150"/>
            <a:ext cx="2194560" cy="1265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48056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9FB0C4"/>
                </a:solidFill>
                <a:latin typeface="맑은 고딕"/>
              </a:rPr>
              <a:t>강관 압입 후 내부 보강폼 · 격벽철판 일체화,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9FB0C4"/>
                </a:solidFill>
                <a:latin typeface="맑은 고딕"/>
              </a:rPr>
              <a:t>H-BEAM + RC 합성 구조체 형성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235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26A21"/>
                </a:solidFill>
                <a:latin typeface="맑은 고딕"/>
              </a:rPr>
              <a:t>JCENC 적용 공법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783080"/>
            <a:ext cx="26517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201168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B2447"/>
                </a:solidFill>
                <a:latin typeface="맑은 고딕"/>
              </a:rPr>
              <a:t>T.R.c.M</a:t>
            </a:r>
          </a:p>
        </p:txBody>
      </p:sp>
      <p:pic>
        <p:nvPicPr>
          <p:cNvPr id="12" name="Picture 11" descr="p44_x575_495x2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850434"/>
            <a:ext cx="2194560" cy="11571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75304" y="448056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강관을 영구 구조물로 사용,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상부 충전강관 + 벽체 트렌치 굴착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783080"/>
            <a:ext cx="26517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B2447"/>
                </a:solidFill>
                <a:latin typeface="맑은 고딕"/>
              </a:rPr>
              <a:t>S.T.S</a:t>
            </a:r>
          </a:p>
        </p:txBody>
      </p:sp>
      <p:pic>
        <p:nvPicPr>
          <p:cNvPr id="16" name="Picture 15" descr="p44_x576_451x2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842649"/>
            <a:ext cx="2194560" cy="11727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9088" y="448056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소형 강관 압입 + 연결철근 결속,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몰탈 충전 라멘 차수 구조체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1783080"/>
            <a:ext cx="26517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201168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B2447"/>
                </a:solidFill>
                <a:latin typeface="맑은 고딕"/>
              </a:rPr>
              <a:t>U.P.R.S</a:t>
            </a:r>
          </a:p>
        </p:txBody>
      </p:sp>
      <p:pic>
        <p:nvPicPr>
          <p:cNvPr id="20" name="Picture 19" descr="p44_x577_432x2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2844800"/>
            <a:ext cx="2194560" cy="1168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62872" y="448056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강관 다발 구조체 + 레일 가이드 추진,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콘크리트 일체화 후 내부 굴착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공법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05  METHOD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T.S.M 공법의 우위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1183112" cy="7772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9384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2447"/>
                </a:solidFill>
                <a:latin typeface="맑은 고딕"/>
              </a:rPr>
              <a:t>작업 안전성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29384"/>
            <a:ext cx="8138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측벽 구조체 축조가 대구경 강관 내부에서 이루어져 위험성이 낮고, 구조물 타설 완료 후 내부 굴착으로 굴착 시 안정성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88336"/>
            <a:ext cx="11183112" cy="7772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2447"/>
                </a:solidFill>
                <a:latin typeface="맑은 고딕"/>
              </a:rPr>
              <a:t>시공 정밀도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834640"/>
            <a:ext cx="8138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강관 추진 시공오차가 발생해도 계획선 측량 후 절개 — 터널 단면에 문제가 발생하지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93592"/>
            <a:ext cx="11183112" cy="7772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3989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2447"/>
                </a:solidFill>
                <a:latin typeface="맑은 고딕"/>
              </a:rPr>
              <a:t>연약지반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39896"/>
            <a:ext cx="8138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대형 강관 내부에서 구조물 하부 연약지반 보강 가능 — 타 공법 대비 유리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98848"/>
            <a:ext cx="11183112" cy="7772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4515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2447"/>
                </a:solidFill>
                <a:latin typeface="맑은 고딕"/>
              </a:rPr>
              <a:t>곡선 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645152"/>
            <a:ext cx="8138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선도관 조정장치로 곡선 선형(R=60m) 시공 가능 — 실적 보유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404104"/>
            <a:ext cx="11183112" cy="77724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50408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2447"/>
                </a:solidFill>
                <a:latin typeface="맑은 고딕"/>
              </a:rPr>
              <a:t>품질 · 미관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550408"/>
            <a:ext cx="8138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470"/>
                </a:solidFill>
                <a:latin typeface="맑은 고딕"/>
              </a:rPr>
              <a:t>지하 구조물 벽면을 미려하게 형성 — 격벽철판 일체화 방수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공법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06  E.G.R GROUTING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지반은 단단하게, 지하수는 깨끗하게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126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B6470"/>
                </a:solidFill>
                <a:latin typeface="맑은 고딕"/>
              </a:rPr>
              <a:t>용탈성 재료를 최소화하고 실리케이트 활성 · 혼화재 결합을 극대화한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B6470"/>
                </a:solidFill>
                <a:latin typeface="맑은 고딕"/>
              </a:rPr>
              <a:t>저압주입 방식의 환경친화적 실리카졸계 그라우팅 공법입니다.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B6470"/>
                </a:solidFill>
                <a:latin typeface="맑은 고딕"/>
              </a:rPr>
              <a:t>지반 내부를 빈틈없이 고결화해 지지력과 차수 성능을 높입니다.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26A21"/>
                </a:solidFill>
                <a:latin typeface="맑은 고딕"/>
              </a:rPr>
              <a:t>Gel-Time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2447"/>
                </a:solidFill>
                <a:latin typeface="맑은 고딕"/>
              </a:rPr>
              <a:t>수초 ~ 수분 조절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01752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127248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26A21"/>
                </a:solidFill>
                <a:latin typeface="맑은 고딕"/>
              </a:rPr>
              <a:t>고결강도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3832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2447"/>
                </a:solidFill>
                <a:latin typeface="맑은 고딕"/>
              </a:rPr>
              <a:t>20~60 kg/㎠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95928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26A21"/>
                </a:solidFill>
                <a:latin typeface="맑은 고딕"/>
              </a:rPr>
              <a:t>침투성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2447"/>
                </a:solidFill>
                <a:latin typeface="맑은 고딕"/>
              </a:rPr>
              <a:t>초기 점성 낮음 — 침투주입 우수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88620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3995928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26A21"/>
                </a:solidFill>
                <a:latin typeface="맑은 고딕"/>
              </a:rPr>
              <a:t>팽창성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251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2447"/>
                </a:solidFill>
                <a:latin typeface="맑은 고딕"/>
              </a:rPr>
              <a:t>1~3%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5488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26A21"/>
                </a:solidFill>
                <a:latin typeface="맑은 고딕"/>
              </a:rPr>
              <a:t>내구성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206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2447"/>
                </a:solidFill>
                <a:latin typeface="맑은 고딕"/>
              </a:rPr>
              <a:t>종래 주입재 대비 반영구적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75488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4864608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26A21"/>
                </a:solidFill>
                <a:latin typeface="맑은 고딕"/>
              </a:rPr>
              <a:t>내염성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51206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2447"/>
                </a:solidFill>
                <a:latin typeface="맑은 고딕"/>
              </a:rPr>
              <a:t>해수 · 지하수 수질 영향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1481328"/>
            <a:ext cx="461772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19_x334_699x1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860" y="1664208"/>
            <a:ext cx="2721200" cy="3931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69480" y="5623560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EGR 주입 계통도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E.G.R 그라우팅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06  E.G.R GROUTING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주입 방식 · 표준 배합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500116" cy="44074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20_x337_653x4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08669"/>
            <a:ext cx="5280660" cy="33721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576986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표준 배합 비율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1783080"/>
            <a:ext cx="5500116" cy="44074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21_x340_477x3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2134175"/>
            <a:ext cx="5280660" cy="33211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95644" y="5769864"/>
            <a:ext cx="52806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EGR 주입 모식도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E.G.R 그라우팅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06  E.G.R GROUTING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약액주입 공법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1554480" cy="4572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928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783080"/>
            <a:ext cx="3520440" cy="4572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89280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E.G.R 공법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783080"/>
            <a:ext cx="3054096" cy="4572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892808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S.G.R 공법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1936" y="1783080"/>
            <a:ext cx="3054096" cy="4572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6" y="1892808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L.W 공법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1554480" cy="65836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350008"/>
            <a:ext cx="13350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1D1B"/>
                </a:solidFill>
                <a:latin typeface="맑은 고딕"/>
              </a:rPr>
              <a:t>주입 방식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2240280"/>
            <a:ext cx="3520440" cy="658368"/>
          </a:xfrm>
          <a:prstGeom prst="rect">
            <a:avLst/>
          </a:prstGeom>
          <a:solidFill>
            <a:srgbClr val="FDF0E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8" y="2350008"/>
            <a:ext cx="330098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B2447"/>
                </a:solidFill>
                <a:latin typeface="맑은 고딕"/>
              </a:rPr>
              <a:t>저압 침투주입 (1~10kgf/㎠)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240280"/>
            <a:ext cx="3054096" cy="65836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87568" y="2350008"/>
            <a:ext cx="2834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2.0 Shot 이중관 주입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31936" y="2240280"/>
            <a:ext cx="3054096" cy="65836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41664" y="2350008"/>
            <a:ext cx="2834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1.5 Shot 멘젯튜브 주입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98648"/>
            <a:ext cx="1554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008376"/>
            <a:ext cx="13350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1D1B"/>
                </a:solidFill>
                <a:latin typeface="맑은 고딕"/>
              </a:rPr>
              <a:t>주입 범위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2898648"/>
            <a:ext cx="3520440" cy="658368"/>
          </a:xfrm>
          <a:prstGeom prst="rect">
            <a:avLst/>
          </a:prstGeom>
          <a:solidFill>
            <a:srgbClr val="FDF0E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8" y="3008376"/>
            <a:ext cx="330098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B2447"/>
                </a:solidFill>
                <a:latin typeface="맑은 고딕"/>
              </a:rPr>
              <a:t>Φ0.6 ~ 1.2m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898648"/>
            <a:ext cx="30540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7568" y="3008376"/>
            <a:ext cx="2834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Φ0.8 ~ 1.2m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31936" y="2898648"/>
            <a:ext cx="30540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41664" y="3008376"/>
            <a:ext cx="2834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Φ0.8 ~ 1.2m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557016"/>
            <a:ext cx="1554480" cy="65836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3666744"/>
            <a:ext cx="13350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1D1B"/>
                </a:solidFill>
                <a:latin typeface="맑은 고딕"/>
              </a:rPr>
              <a:t>환경성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3557016"/>
            <a:ext cx="3520440" cy="658368"/>
          </a:xfrm>
          <a:prstGeom prst="rect">
            <a:avLst/>
          </a:prstGeom>
          <a:solidFill>
            <a:srgbClr val="FDF0E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8" y="3666744"/>
            <a:ext cx="330098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B2447"/>
                </a:solidFill>
                <a:latin typeface="맑은 고딕"/>
              </a:rPr>
              <a:t>용탈 최소화 — 지하수 오염 저감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557016"/>
            <a:ext cx="3054096" cy="65836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87568" y="3666744"/>
            <a:ext cx="2834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용탈 발생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31936" y="3557016"/>
            <a:ext cx="3054096" cy="658368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1664" y="3666744"/>
            <a:ext cx="2834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물유리 용탈 발생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215384"/>
            <a:ext cx="1554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4325112"/>
            <a:ext cx="13350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1D1B"/>
                </a:solidFill>
                <a:latin typeface="맑은 고딕"/>
              </a:rPr>
              <a:t>내구성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4215384"/>
            <a:ext cx="3520440" cy="658368"/>
          </a:xfrm>
          <a:prstGeom prst="rect">
            <a:avLst/>
          </a:prstGeom>
          <a:solidFill>
            <a:srgbClr val="FDF0E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7128" y="4325112"/>
            <a:ext cx="330098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B2447"/>
                </a:solidFill>
                <a:latin typeface="맑은 고딕"/>
              </a:rPr>
              <a:t>반영구적 · 강도 우수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4215384"/>
            <a:ext cx="30540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87568" y="4325112"/>
            <a:ext cx="2834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개량 강도 낮음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31936" y="4215384"/>
            <a:ext cx="30540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41664" y="4325112"/>
            <a:ext cx="2834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융탈로 내구성 저하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873752"/>
            <a:ext cx="1554480" cy="868680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4983480"/>
            <a:ext cx="13350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D1D1B"/>
                </a:solidFill>
                <a:latin typeface="맑은 고딕"/>
              </a:rPr>
              <a:t>특징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4873752"/>
            <a:ext cx="3520440" cy="868680"/>
          </a:xfrm>
          <a:prstGeom prst="rect">
            <a:avLst/>
          </a:prstGeom>
          <a:solidFill>
            <a:srgbClr val="FDF0E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8" y="4983480"/>
            <a:ext cx="33009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B2447"/>
                </a:solidFill>
                <a:latin typeface="맑은 고딕"/>
              </a:rPr>
              <a:t>Gel-Time 조절 용이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0B2447"/>
                </a:solidFill>
                <a:latin typeface="맑은 고딕"/>
              </a:rPr>
              <a:t>한정주입으로 차수 극대화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4873752"/>
            <a:ext cx="3054096" cy="868680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87568" y="498348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급결 · 완결 반복 주입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31936" y="4873752"/>
            <a:ext cx="3054096" cy="868680"/>
          </a:xfrm>
          <a:prstGeom prst="rect">
            <a:avLst/>
          </a:prstGeom>
          <a:solidFill>
            <a:srgbClr val="F4F5F7"/>
          </a:solidFill>
          <a:ln w="9525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41664" y="498348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0"/>
                </a:solidFill>
                <a:latin typeface="맑은 고딕"/>
              </a:rPr>
              <a:t>소형 장비 — 협소 공간 유리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E.G.R 그라우팅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06  E.G.R GROUTING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특허 · 시험성적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605784" cy="44074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23_x349_505x7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76" y="1892808"/>
            <a:ext cx="2524272" cy="3803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576986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특허증 — 그라우트 주입용 조성물 및 그라우팅 공법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1584" y="1783080"/>
            <a:ext cx="3605784" cy="44074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24_x352_507x7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396" y="1892808"/>
            <a:ext cx="2498159" cy="38039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01312" y="576986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공인기관 시험성적서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0248" y="1783080"/>
            <a:ext cx="3605784" cy="44074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25_x356_511x7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834" y="1892808"/>
            <a:ext cx="2514611" cy="38039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9976" y="5769864"/>
            <a:ext cx="3386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공인기관 시험성적서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E.G.R 그라우팅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06  E.G.R GROUTING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1D1B"/>
                </a:solidFill>
                <a:latin typeface="맑은 고딕"/>
              </a:rPr>
              <a:t>적용 분야 · 시공</a:t>
            </a:r>
          </a:p>
        </p:txBody>
      </p:sp>
      <p:sp>
        <p:nvSpPr>
          <p:cNvPr id="5" name="Oval 4"/>
          <p:cNvSpPr/>
          <p:nvPr/>
        </p:nvSpPr>
        <p:spPr>
          <a:xfrm>
            <a:off x="530352" y="1865376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D1D1B"/>
                </a:solidFill>
                <a:latin typeface="맑은 고딕"/>
              </a:rPr>
              <a:t>비개착 강관 외측 차수 · 지반 보강</a:t>
            </a:r>
          </a:p>
        </p:txBody>
      </p:sp>
      <p:sp>
        <p:nvSpPr>
          <p:cNvPr id="7" name="Oval 6"/>
          <p:cNvSpPr/>
          <p:nvPr/>
        </p:nvSpPr>
        <p:spPr>
          <a:xfrm>
            <a:off x="530352" y="2432304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D1D1B"/>
                </a:solidFill>
                <a:latin typeface="맑은 고딕"/>
              </a:rPr>
              <a:t>연약지반 개량 · 지지력 증대</a:t>
            </a:r>
          </a:p>
        </p:txBody>
      </p:sp>
      <p:sp>
        <p:nvSpPr>
          <p:cNvPr id="9" name="Oval 8"/>
          <p:cNvSpPr/>
          <p:nvPr/>
        </p:nvSpPr>
        <p:spPr>
          <a:xfrm>
            <a:off x="530352" y="2999232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4436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D1D1B"/>
                </a:solidFill>
                <a:latin typeface="맑은 고딕"/>
              </a:rPr>
              <a:t>굴착 배면 차수 — 지하수 유입 차단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3566160"/>
            <a:ext cx="128016" cy="128016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1129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D1D1B"/>
                </a:solidFill>
                <a:latin typeface="맑은 고딕"/>
              </a:rPr>
              <a:t>구조물 하부 침하 방지 보강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0B2447"/>
                </a:solidFill>
                <a:latin typeface="맑은 고딕"/>
              </a:rPr>
              <a:t>EGR · SGR · LW 전 공법 대응 —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0B2447"/>
                </a:solidFill>
                <a:latin typeface="맑은 고딕"/>
              </a:rPr>
              <a:t>현장 지반 조건에 맞는 최적 배합을 제안합니다.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255117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26_x360_545x632.png"/>
          <p:cNvPicPr>
            <a:picLocks noChangeAspect="1"/>
          </p:cNvPicPr>
          <p:nvPr/>
        </p:nvPicPr>
        <p:blipFill>
          <a:blip r:embed="rId2"/>
          <a:srcRect l="13583" r="13583"/>
          <a:stretch>
            <a:fillRect/>
          </a:stretch>
        </p:blipFill>
        <p:spPr>
          <a:xfrm>
            <a:off x="6510528" y="1892808"/>
            <a:ext cx="2331720" cy="3712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10528" y="56784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시공 사진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783080"/>
            <a:ext cx="2551176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26_x361_512x690.jpg"/>
          <p:cNvPicPr>
            <a:picLocks noChangeAspect="1"/>
          </p:cNvPicPr>
          <p:nvPr/>
        </p:nvPicPr>
        <p:blipFill>
          <a:blip r:embed="rId3"/>
          <a:srcRect l="7678" r="7678"/>
          <a:stretch>
            <a:fillRect/>
          </a:stretch>
        </p:blipFill>
        <p:spPr>
          <a:xfrm>
            <a:off x="9244584" y="1892808"/>
            <a:ext cx="2331720" cy="3712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44584" y="56784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맑은 고딕"/>
              </a:rPr>
              <a:t>시공 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E.G.R 그라우팅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07 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숫자로 보는 공법 실적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0C4"/>
                </a:solidFill>
                <a:latin typeface="맑은 고딕"/>
              </a:rPr>
              <a:t>T.S.M 공법 실적 — 철도 · 고속도로 · 상수도 등 국가 기간시설 하부에서 완수했습니다.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6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3347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6A21"/>
                </a:solidFill>
                <a:latin typeface="맑은 고딕"/>
              </a:rPr>
              <a:t>36건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012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FB0C4"/>
                </a:solidFill>
                <a:latin typeface="맑은 고딕"/>
              </a:rPr>
              <a:t>공법 실적 (시공완료 기준)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1" y="237744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6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263347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6A21"/>
                </a:solidFill>
                <a:latin typeface="맑은 고딕"/>
              </a:rPr>
              <a:t>374m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331012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FB0C4"/>
                </a:solidFill>
                <a:latin typeface="맑은 고딕"/>
              </a:rPr>
              <a:t>최장 연장 — 고양 향동·덕은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2" y="237744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6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1622" y="263347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6A21"/>
                </a:solidFill>
                <a:latin typeface="맑은 고딕"/>
              </a:rPr>
              <a:t>B23.9m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2" y="331012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FB0C4"/>
                </a:solidFill>
                <a:latin typeface="맑은 고딕"/>
              </a:rPr>
              <a:t>최대 폭 단면 — 서부내륙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6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6A21"/>
                </a:solidFill>
                <a:latin typeface="맑은 고딕"/>
              </a:rPr>
              <a:t>D2,100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47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FB0C4"/>
                </a:solidFill>
                <a:latin typeface="맑은 고딕"/>
              </a:rPr>
              <a:t>최대 관경 — 광주·용인 취수장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1" y="411480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6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437083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6A21"/>
                </a:solidFill>
                <a:latin typeface="맑은 고딕"/>
              </a:rPr>
              <a:t>15+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5047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FB0C4"/>
                </a:solidFill>
                <a:latin typeface="맑은 고딕"/>
              </a:rPr>
              <a:t>공공 발주처 · 대형 원청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2" y="4114800"/>
            <a:ext cx="3611880" cy="1508760"/>
          </a:xfrm>
          <a:prstGeom prst="roundRect">
            <a:avLst>
              <a:gd name="adj" fmla="val 7000"/>
            </a:avLst>
          </a:prstGeom>
          <a:solidFill>
            <a:srgbClr val="163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2" y="437083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6A21"/>
                </a:solidFill>
                <a:latin typeface="맑은 고딕"/>
              </a:rPr>
              <a:t>R=60m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2" y="5047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FB0C4"/>
                </a:solidFill>
                <a:latin typeface="맑은 고딕"/>
              </a:rPr>
              <a:t>곡선 시공 — 동대구역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FB0C4"/>
                </a:solidFill>
                <a:latin typeface="맑은 고딕"/>
              </a:rPr>
              <a:t>※ 상기 실적은 T.S.M 공법의 시공 실적이며, 당사 기술진이 수행한 프로젝트를 포함합니다.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FB0C4"/>
                </a:solidFill>
                <a:latin typeface="맑은 고딕"/>
              </a:rPr>
              <a:t>JCENC  ·  공법 실적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FB0C4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07 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D1D1B"/>
                </a:solidFill>
                <a:latin typeface="맑은 고딕"/>
              </a:rPr>
              <a:t>공법 실적표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54864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536192"/>
            <a:ext cx="5971032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18488"/>
            <a:ext cx="59710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공사명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2592" y="1536192"/>
            <a:ext cx="173736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161848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규모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9952" y="1536192"/>
            <a:ext cx="109728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9952" y="16184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연장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57232" y="1536192"/>
            <a:ext cx="182880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57232" y="16184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발주처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0195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93395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190195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193395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국도42호선 수로BOX 공사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2592" y="190195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193395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1.5×1.5m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9952" y="190195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193395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L=23m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190195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0384" y="193395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시흥시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13786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16987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213786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216987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평택LNG 경부철도 횡단공사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2592" y="213786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95744" y="216987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PIPE D1,350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59952" y="213786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3104" y="216987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L=40m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57232" y="213786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0384" y="216987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한국가스공사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37378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240578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237378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" y="240578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회현지하상가 연결통로 공사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2592" y="237378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95744" y="240578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8.2×5.7m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59952" y="237378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3104" y="240578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L=8m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57232" y="237378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30384" y="240578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쌍용건설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60969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264170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1560" y="260969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4712" y="264170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상주실내체육관 수로공사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22592" y="260969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95744" y="264170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PIPE D1,400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59952" y="260969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33104" y="264170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L=18.5m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57232" y="260969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30384" y="264170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상주시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84561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" y="287761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1560" y="284561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4712" y="287761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원주기업도시 지구외 인입관로 설치공사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84561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95744" y="287761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PIPE D1,400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59952" y="284561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33104" y="287761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L=40m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57232" y="284561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30384" y="287761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원주기업도시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308152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" y="311353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1560" y="308152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24712" y="311353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원능 공공하수처리시설 처리수 재이용사업 중 철도횡단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22592" y="308152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95744" y="311353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PIPE D1,000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59952" y="308152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33104" y="311353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L=163m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57232" y="308152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30384" y="311353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고양시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331744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6072" y="334944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1560" y="331744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24712" y="334944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서초역 3·4역 출입구 이설공사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22592" y="331744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95744" y="334944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19.8×7.8m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759952" y="331744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33104" y="334944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L=41m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857232" y="331744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30384" y="334944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쌍용건설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355335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6072" y="358536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51560" y="355335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4712" y="358536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안양첨단산업단지 수로BOX 공사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22592" y="355335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95744" y="358536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1.5×1.8m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759952" y="355335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33104" y="358536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L=21m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857232" y="355335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930384" y="358536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안양시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" y="378927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76072" y="382127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1560" y="378927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24712" y="382127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한강하류권(2차) 급수체계조정 도수시설 철도횡단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22592" y="378927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095744" y="382127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PIPE D2,000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759952" y="378927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833104" y="382127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L=44m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857232" y="378927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30384" y="382127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한국수자원공사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402518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6072" y="405719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1560" y="402518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24712" y="405719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부산항신항 제2배후도로 Ramp-D1교 비개착공사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22592" y="402518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095744" y="405719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10.8×5.9m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759952" y="402518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33104" y="405719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L=36m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857232" y="402518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930384" y="405719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롯데건설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426110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76072" y="429310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51560" y="426110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24712" y="429310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상주~영덕간 고속도로 중 지하차도 공사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022592" y="426110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095744" y="429310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11.5×7.4m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59952" y="426110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833104" y="429310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L=41m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857232" y="426110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930384" y="429310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한국도로공사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2920" y="449701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6072" y="452902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51560" y="449701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24712" y="452902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소사~원시 복선전철 민간투자시설사업 중 비개착공사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022592" y="449701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095744" y="452902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10.4×5.9m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759952" y="449701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833104" y="452902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L=30m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57232" y="449701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930384" y="452902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이레일(주)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2920" y="473293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76072" y="476493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51560" y="473293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24712" y="476493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센텀시티 신세계UEC B부지 신축 지하통로 공사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022592" y="473293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095744" y="476493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9.3×3.6m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759952" y="473293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833104" y="476493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L=27.3m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857232" y="473293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930384" y="476493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신세계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2920" y="496884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76072" y="500085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51560" y="496884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24712" y="500085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동대구역 복합환승센터 효신로 진출램프 공사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022592" y="496884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095744" y="500085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5.1×3.0m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759952" y="496884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833104" y="500085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L=43m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857232" y="496884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930384" y="500085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신세계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02920" y="520476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76072" y="523676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51560" y="520476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24712" y="523676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동대구역 복합환승센터 동부로 진출램프 공사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022592" y="520476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095744" y="523676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5.1×3.0m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759952" y="520476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833104" y="523676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L=43m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857232" y="520476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930384" y="523676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신세계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02920" y="544067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76072" y="547268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16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51560" y="544067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124712" y="547268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센텀시티 B부지 차량연결통로 공사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022592" y="544067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095744" y="547268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9.3×3.6m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759952" y="544067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833104" y="547268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L=27m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857232" y="544067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930384" y="547268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신세계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2920" y="567659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76072" y="570859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17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51560" y="567659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24712" y="570859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대청댐 계통(Ⅲ) 광역상수도 도수공사 (충북선 하부통과)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022592" y="567659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095744" y="570859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5.0×3.0m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759952" y="567659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833104" y="570859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L=25.3m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857232" y="567659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930384" y="570859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한국수자원공사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02920" y="591250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76072" y="594451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51560" y="591250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24712" y="594451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대곡~소사 복선전철 1공구 (비개착 1구간 상선)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022592" y="591250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095744" y="594451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5.6×6.08m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759952" y="591250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833104" y="594451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L=85m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9857232" y="591250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930384" y="594451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경기철도(주)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02920" y="623986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※ T.S.M 공법 실적 — 당사 기술진 수행 프로젝트 포함  ·  34번 동북선 116정거장: 시공 중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공법 실적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07 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D1D1B"/>
                </a:solidFill>
                <a:latin typeface="맑은 고딕"/>
              </a:rPr>
              <a:t>공법 실적표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54864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536192"/>
            <a:ext cx="5971032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18488"/>
            <a:ext cx="59710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공사명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2592" y="1536192"/>
            <a:ext cx="173736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161848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규모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9952" y="1536192"/>
            <a:ext cx="109728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9952" y="1618488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연장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57232" y="1536192"/>
            <a:ext cx="1828800" cy="365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57232" y="16184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발주처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0195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93395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190195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193395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대곡~소사 복선전철 1공구 (비개착 1구간 하선)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2592" y="190195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5744" y="193395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5.6×6.08m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9952" y="190195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193395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L=80m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57232" y="190195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0384" y="193395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경기철도(주)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13786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16987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213786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216987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대곡~소사 복선전철 1공구 (비개착 2구간 상선)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2592" y="213786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95744" y="216987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5.6×6.08m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59952" y="213786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3104" y="216987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L=29m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57232" y="213786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0384" y="216987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경기철도(주)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37378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240578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237378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" y="240578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대곡~소사 복선전철 1공구 (비개착 2구간 하선)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2592" y="237378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95744" y="240578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5.6×6.08m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59952" y="237378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3104" y="240578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L=28m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57232" y="237378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30384" y="240578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경기철도(주)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60969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264170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1560" y="260969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4712" y="264170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대곡~소사 복선전철 1공구 (비개착 3구간 상선)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22592" y="260969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95744" y="264170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5.6×6.08m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59952" y="260969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33104" y="264170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L=24m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57232" y="260969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30384" y="264170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경기철도(주)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84561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" y="287761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1560" y="284561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4712" y="287761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대곡~소사 복선전철 1공구 (비개착 3구간 하선)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84561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95744" y="287761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5.6×6.08m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59952" y="284561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33104" y="287761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L=24m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57232" y="284561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30384" y="287761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경기철도(주)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308152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" y="311353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1560" y="308152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24712" y="311353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고양 향동 및 덕은지구 공급처리시설 건설공사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22592" y="308152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95744" y="311353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PIPE D1,430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59952" y="308152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33104" y="311353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L=374m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57232" y="308152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30384" y="311353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한국토지주택공사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331744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6072" y="334944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51560" y="331744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24712" y="334944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용인 백봉리 물류센터 진입도로 중 비개착 암거 신설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22592" y="331744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95744" y="334944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4.5×9.0m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759952" y="331744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33104" y="334944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L=22m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857232" y="331744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30384" y="334944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엘비 사모부동산(유)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355335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6072" y="358536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51560" y="355335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4712" y="358536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고덕산단 공업용수도사업 제1공구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22592" y="355335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95744" y="358536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PIPE D2,000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759952" y="355335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33104" y="358536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L=66m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857232" y="355335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930384" y="358536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한국수자원공사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" y="378927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76072" y="382127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1560" y="378927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24712" y="382127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충주댐 공업용수도사업 제3공구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022592" y="378927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095744" y="382127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3.0×3.0m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759952" y="378927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833104" y="382127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L=60m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857232" y="378927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30384" y="382127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한국수자원공사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402518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6072" y="405719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1560" y="402518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24712" y="405719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연일 택전천 소하천정비공사 중 비개착공사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22592" y="402518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095744" y="405719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2.5×3.0m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759952" y="402518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33104" y="405719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L=70m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857232" y="402518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930384" y="405719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포항시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426110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76072" y="429310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29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51560" y="426110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24712" y="429310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평택~부여~익산(서부내륙) 고속도로 7공구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022592" y="426110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095744" y="429310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23.9×5.0m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59952" y="426110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833104" y="429310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L=15m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857232" y="426110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930384" y="429310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서부내륙(주)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2920" y="449701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6072" y="452902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30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51560" y="449701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24712" y="452902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아포 인리 자연재해위험개선지구 정비사업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022592" y="449701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095744" y="452902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2.5×2.5m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759952" y="449701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833104" y="452902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L=46m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57232" y="449701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930384" y="452902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김천시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2920" y="473293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76072" y="476493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31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51560" y="473293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24712" y="476493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부산도시철도 사상~하단선 2공구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022592" y="473293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095744" y="476493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7.8×4.3m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759952" y="473293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833104" y="476493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L=63m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857232" y="473293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930384" y="476493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부산교통공사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2920" y="496884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76072" y="500085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32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51560" y="496884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24712" y="500085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국도21호선 예산 응봉 개선공사 (계정지하차도)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022592" y="496884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095744" y="500085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4.5×4.5m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759952" y="496884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833104" y="500085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L=27m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857232" y="496884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930384" y="500085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예산국토관리사무소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02920" y="520476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76072" y="523676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33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51560" y="520476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24712" y="523676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국도21호선 예산 응봉 개선공사 (노화지하차도)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022592" y="520476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095744" y="523676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3.0×3.0m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759952" y="520476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833104" y="523676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L=35m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857232" y="520476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930384" y="523676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예산국토관리사무소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02920" y="544067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76072" y="547268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34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51560" y="544067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124712" y="547268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동북선 도시철도 민간투자사업 116정거장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022592" y="544067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095744" y="547268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9.1×4.3m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759952" y="544067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833104" y="547268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L=39.5m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857232" y="544067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930384" y="547268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동북선경전철(주)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2920" y="5676592"/>
            <a:ext cx="54864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76072" y="5708596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35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51560" y="5676592"/>
            <a:ext cx="5971032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24712" y="5708596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구룡근린공원 공동주택 신축 진입도로 비개착공사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022592" y="5676592"/>
            <a:ext cx="173736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095744" y="5708596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BOX 18.0×5.0m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759952" y="5676592"/>
            <a:ext cx="109728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833104" y="5708596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L=15m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857232" y="5676592"/>
            <a:ext cx="1828800" cy="23591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930384" y="5708596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구룡개발(주)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02920" y="5912507"/>
            <a:ext cx="54864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76072" y="5944511"/>
            <a:ext cx="42062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36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51560" y="5912507"/>
            <a:ext cx="5971032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24712" y="5944511"/>
            <a:ext cx="5843016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1D1D1B"/>
                </a:solidFill>
                <a:latin typeface="맑은 고딕"/>
              </a:rPr>
              <a:t>광주·용인 공동취수장 개대체(증설) 사업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022592" y="5912507"/>
            <a:ext cx="173736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095744" y="5944511"/>
            <a:ext cx="160934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PIPE D2,100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759952" y="5912507"/>
            <a:ext cx="109728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833104" y="5944511"/>
            <a:ext cx="96926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>
                <a:solidFill>
                  <a:srgbClr val="5B6470"/>
                </a:solidFill>
                <a:latin typeface="맑은 고딕"/>
              </a:rPr>
              <a:t>L=102m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9857232" y="5912507"/>
            <a:ext cx="1828800" cy="2359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930384" y="5944511"/>
            <a:ext cx="1700784" cy="199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5B6470"/>
                </a:solidFill>
                <a:latin typeface="맑은 고딕"/>
              </a:rPr>
              <a:t>경기도 광주시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02920" y="623986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※ T.S.M 공법 실적 — 당사 기술진 수행 프로젝트 포함  ·  34번 동북선 116정거장: 시공 중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공법 실적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07 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D1D1B"/>
                </a:solidFill>
                <a:latin typeface="맑은 고딕"/>
              </a:rPr>
              <a:t>대표 사례 — 철도 하부통과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11831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13_x295_472x354.jpg"/>
          <p:cNvPicPr>
            <a:picLocks noChangeAspect="1"/>
          </p:cNvPicPr>
          <p:nvPr/>
        </p:nvPicPr>
        <p:blipFill>
          <a:blip r:embed="rId2"/>
          <a:srcRect t="11765" b="11765"/>
          <a:stretch>
            <a:fillRect/>
          </a:stretch>
        </p:blipFill>
        <p:spPr>
          <a:xfrm>
            <a:off x="685800" y="1874520"/>
            <a:ext cx="3108960" cy="1783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69080" y="201168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D1D1B"/>
                </a:solidFill>
                <a:latin typeface="맑은 고딕"/>
              </a:rPr>
              <a:t>대곡~소사 복선전철 민간투자시설사업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56032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B6470"/>
                </a:solidFill>
                <a:latin typeface="맑은 고딕"/>
              </a:rPr>
              <a:t>철도 하부통과 · 연장 85.2m · 구조물 B6.0×H5.5m · 토피고 3.0m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B6470"/>
                </a:solidFill>
                <a:latin typeface="맑은 고딕"/>
              </a:rPr>
              <a:t>경기철도(주) — 상 · 하선 6개 구간 시공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98424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0" y="207568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철도 하부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23360"/>
            <a:ext cx="111831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unnel.jpg"/>
          <p:cNvPicPr>
            <a:picLocks noChangeAspect="1"/>
          </p:cNvPicPr>
          <p:nvPr/>
        </p:nvPicPr>
        <p:blipFill>
          <a:blip r:embed="rId3"/>
          <a:srcRect t="25744" b="25744"/>
          <a:stretch>
            <a:fillRect/>
          </a:stretch>
        </p:blipFill>
        <p:spPr>
          <a:xfrm>
            <a:off x="685800" y="4206240"/>
            <a:ext cx="3108960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9080" y="4343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D1D1B"/>
                </a:solidFill>
                <a:latin typeface="맑은 고딕"/>
              </a:rPr>
              <a:t>고양 향동 · 덕은지구 공급처리시설 건설공사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489204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B6470"/>
                </a:solidFill>
                <a:latin typeface="맑은 고딕"/>
              </a:rPr>
              <a:t>철도 하부통과 · 연장 374m (173.8/141/125.6m) · 추진관경 D1,430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B6470"/>
                </a:solidFill>
                <a:latin typeface="맑은 고딕"/>
              </a:rPr>
              <a:t>한국토지주택공사(LH)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31596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440740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최장 연장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대표 사례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50">
                <a:solidFill>
                  <a:srgbClr val="F26A21"/>
                </a:solidFill>
                <a:latin typeface="맑은 고딕"/>
              </a:rPr>
              <a:t>07 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D1D1B"/>
                </a:solidFill>
                <a:latin typeface="맑은 고딕"/>
              </a:rPr>
              <a:t>대표 사례 — 특수 조건 시공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11831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41_x547_574x432.jpg"/>
          <p:cNvPicPr>
            <a:picLocks noChangeAspect="1"/>
          </p:cNvPicPr>
          <p:nvPr/>
        </p:nvPicPr>
        <p:blipFill>
          <a:blip r:embed="rId2"/>
          <a:srcRect t="11897" b="11897"/>
          <a:stretch>
            <a:fillRect/>
          </a:stretch>
        </p:blipFill>
        <p:spPr>
          <a:xfrm>
            <a:off x="685800" y="1874520"/>
            <a:ext cx="3108960" cy="1783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69080" y="201168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D1D1B"/>
                </a:solidFill>
                <a:latin typeface="맑은 고딕"/>
              </a:rPr>
              <a:t>동대구역 복합환승센터 건립사업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56032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B6470"/>
                </a:solidFill>
                <a:latin typeface="맑은 고딕"/>
              </a:rPr>
              <a:t>연암 · 경암 구간 · 연장 106.2m (곡선 R=60m) · 구조물 B5.1×H3.0m · 토피고 10.0m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B6470"/>
                </a:solidFill>
                <a:latin typeface="맑은 고딕"/>
              </a:rPr>
              <a:t>암반 + 곡선 선형 동시 대응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98424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0" y="207568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암반·곡선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23360"/>
            <a:ext cx="11183112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42_x565_574x432.jpg"/>
          <p:cNvPicPr>
            <a:picLocks noChangeAspect="1"/>
          </p:cNvPicPr>
          <p:nvPr/>
        </p:nvPicPr>
        <p:blipFill>
          <a:blip r:embed="rId3"/>
          <a:srcRect t="11897" b="11897"/>
          <a:stretch>
            <a:fillRect/>
          </a:stretch>
        </p:blipFill>
        <p:spPr>
          <a:xfrm>
            <a:off x="685800" y="4206240"/>
            <a:ext cx="3108960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9080" y="4343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D1D1B"/>
                </a:solidFill>
                <a:latin typeface="맑은 고딕"/>
              </a:rPr>
              <a:t>평택~부여~익산(서부내륙) 고속도로 7공구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489204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B6470"/>
                </a:solidFill>
                <a:latin typeface="맑은 고딕"/>
              </a:rPr>
              <a:t>토사 구간 · 연장 15.0m · 구조물 B23.9×H5.0m 초대형 단면 · 토피고 4.0m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B6470"/>
                </a:solidFill>
                <a:latin typeface="맑은 고딕"/>
              </a:rPr>
              <a:t>서부내륙(주)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31596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440740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초대형 단면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맑은 고딕"/>
              </a:rPr>
              <a:t>JCENC  ·  대표 사례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0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ymb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02920"/>
            <a:ext cx="841248" cy="634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6583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JCENC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688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F26A21"/>
                </a:solidFill>
                <a:latin typeface="맑은 고딕"/>
              </a:rPr>
              <a:t>CONTACT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88036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맑은 고딕"/>
              </a:rPr>
              <a:t>현장 조건을 보내주시면,</a:t>
            </a:r>
          </a:p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맑은 고딕"/>
              </a:rPr>
              <a:t>공법으로 답하겠습니다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0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26A21"/>
                </a:solidFill>
                <a:latin typeface="맑은 고딕"/>
              </a:rPr>
              <a:t>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57200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맑은 고딕"/>
              </a:rPr>
              <a:t>051-702-2929  ·  010-6771-9999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74336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26A21"/>
                </a:solidFill>
                <a:latin typeface="맑은 고딕"/>
              </a:rPr>
              <a:t>E-MAIL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974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맑은 고딕"/>
              </a:rPr>
              <a:t>jcenc2025@naver.com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376672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26A21"/>
                </a:solidFill>
                <a:latin typeface="맑은 고딕"/>
              </a:rPr>
              <a:t>본사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53766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맑은 고딕"/>
              </a:rPr>
              <a:t>부산광역시 해운대구 세실로 43, 지하층 116호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779008"/>
            <a:ext cx="1463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26A21"/>
                </a:solidFill>
                <a:latin typeface="맑은 고딕"/>
              </a:rPr>
              <a:t>서울사무소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77900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맑은 고딕"/>
              </a:rPr>
              <a:t>서울특별시 종로구 세종대로 149, 2층 2031호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00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FB0C4"/>
                </a:solidFill>
                <a:latin typeface="맑은 고딕"/>
              </a:rPr>
              <a:t>본 자료의 공법 · 실적 관련 상세 기술자료는 요청 시 제공해 드립니다.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